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5143500" type="screen16x9"/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</a:ln>
        </p:spPr>
        <p:txBody>
          <a:bodyPr/>
          <a:lstStyle/>
        </p:txBody>
      </p:sp>
      <p:sp>
        <p:nvSpPr>
          <p:cNvPr id="4" name="Shape 4"/>
          <p:cNvSpPr/>
          <p:nvPr/>
        </p:nvSpPr>
        <p:spPr>
          <a:xfrm>
            <a:off x="6400000" y="500000"/>
            <a:ext cx="1800000" cy="1800000"/>
          </a:xfrm>
          <a:prstGeom prst="roundRect">
            <a:avLst/>
          </a:prstGeom>
          <a:solidFill>
            <a:srgbClr val="ECE2D0"/>
          </a:solidFill>
          <a:ln w="12700">
            <a:solidFill>
              <a:srgbClr val="ECE2D0"/>
            </a:solidFill>
          </a:ln>
        </p:spPr>
        <p:txBody>
          <a:bodyPr/>
          <a:lstStyle/>
        </p:txBody>
      </p:sp>
      <p:sp>
        <p:nvSpPr>
          <p:cNvPr id="5" name="TextBox 5"/>
          <p:cNvSpPr txBox="1"/>
          <p:nvPr/>
        </p:nvSpPr>
        <p:spPr>
          <a:xfrm>
            <a:off x="600000" y="900000"/>
            <a:ext cx="5000000" cy="1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ECE2D0"/>
                </a:solidFill>
              </a:rPr>
              <a:t>Random Skill Test Deck</a:t>
            </a:r>
          </a:p>
          <a:p>
            <a:pPr algn="l"/>
            <a:r>
              <a:rPr lang="en-US" sz="1800" b="false">
                <a:solidFill>
                  <a:srgbClr val="ECE2D0"/>
                </a:solidFill>
              </a:rPr>
              <a:t>Generated to verify PPTX creation workflow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00000" y="1100000"/>
            <a:ext cx="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3200" b="true">
                <a:solidFill>
                  <a:srgbClr val="6D2E46"/>
                </a:solidFill>
              </a:rPr>
              <a:t>PPTX</a:t>
            </a:r>
          </a:p>
          <a:p>
            <a:pPr algn="ctr"/>
            <a:r>
              <a:rPr lang="en-US" sz="1400" b="false">
                <a:solidFill>
                  <a:srgbClr val="6D2E46"/>
                </a:solidFill>
              </a:rPr>
              <a:t>QA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</a:ln>
        </p:spPr>
        <p:txBody>
          <a:bodyPr/>
          <a:lstStyle/>
        </p:txBody>
      </p:sp>
      <p:sp>
        <p:nvSpPr>
          <p:cNvPr id="3" name="TextBox 3"/>
          <p:cNvSpPr txBox="1"/>
          <p:nvPr/>
        </p:nvSpPr>
        <p:spPr>
          <a:xfrm>
            <a:off x="600000" y="35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6D2E46"/>
                </a:solidFill>
              </a:rPr>
              <a:t>Three tiny ideas</a:t>
            </a:r>
          </a:p>
        </p:txBody>
      </p:sp>
      <p:sp>
        <p:nvSpPr>
          <p:cNvPr id="10" name="Shape 10"/>
          <p:cNvSpPr/>
          <p:nvPr/>
        </p:nvSpPr>
        <p:spPr>
          <a:xfrm>
            <a:off x="700000" y="1500000"/>
            <a:ext cx="23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</p:txBody>
      </p:sp>
      <p:sp>
        <p:nvSpPr>
          <p:cNvPr id="20" name="Shape 20"/>
          <p:cNvSpPr/>
          <p:nvPr/>
        </p:nvSpPr>
        <p:spPr>
          <a:xfrm>
            <a:off x="900000" y="1750000"/>
            <a:ext cx="550000" cy="550000"/>
          </a:xfrm>
          <a:prstGeom prst="roundRect">
            <a:avLst/>
          </a:prstGeom>
          <a:solidFill>
            <a:srgbClr val="6D2E46"/>
          </a:solidFill>
          <a:ln w="12700">
            <a:solidFill>
              <a:srgbClr val="6D2E46"/>
            </a:solidFill>
          </a:ln>
        </p:spPr>
        <p:txBody>
          <a:bodyPr/>
          <a:lstStyle/>
        </p:txBody>
      </p:sp>
      <p:sp>
        <p:nvSpPr>
          <p:cNvPr id="30" name="TextBox 30"/>
          <p:cNvSpPr txBox="1"/>
          <p:nvPr/>
        </p:nvSpPr>
        <p:spPr>
          <a:xfrm>
            <a:off x="1600000" y="1700000"/>
            <a:ext cx="13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6D2E46"/>
                </a:solidFill>
              </a:rPr>
              <a:t>Shape-first</a:t>
            </a:r>
          </a:p>
          <a:p>
            <a:pPr algn="l"/>
            <a:r>
              <a:rPr lang="en-US" sz="1300" b="false">
                <a:solidFill>
                  <a:srgbClr val="6D2E46"/>
                </a:solidFill>
              </a:rPr>
              <a:t>Every slide has visual weight.</a:t>
            </a:r>
          </a:p>
        </p:txBody>
      </p:sp>
      <p:sp>
        <p:nvSpPr>
          <p:cNvPr id="11" name="Shape 11"/>
          <p:cNvSpPr/>
          <p:nvPr/>
        </p:nvSpPr>
        <p:spPr>
          <a:xfrm>
            <a:off x="3550000" y="1500000"/>
            <a:ext cx="23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</p:txBody>
      </p:sp>
      <p:sp>
        <p:nvSpPr>
          <p:cNvPr id="21" name="Shape 21"/>
          <p:cNvSpPr/>
          <p:nvPr/>
        </p:nvSpPr>
        <p:spPr>
          <a:xfrm>
            <a:off x="3750000" y="1750000"/>
            <a:ext cx="550000" cy="550000"/>
          </a:xfrm>
          <a:prstGeom prst="roundRect">
            <a:avLst/>
          </a:prstGeom>
          <a:solidFill>
            <a:srgbClr val="A26769"/>
          </a:solidFill>
          <a:ln w="12700">
            <a:solidFill>
              <a:srgbClr val="A26769"/>
            </a:solidFill>
          </a:ln>
        </p:spPr>
        <p:txBody>
          <a:bodyPr/>
          <a:lstStyle/>
        </p:txBody>
      </p:sp>
      <p:sp>
        <p:nvSpPr>
          <p:cNvPr id="31" name="TextBox 31"/>
          <p:cNvSpPr txBox="1"/>
          <p:nvPr/>
        </p:nvSpPr>
        <p:spPr>
          <a:xfrm>
            <a:off x="4450000" y="1700000"/>
            <a:ext cx="13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6D2E46"/>
                </a:solidFill>
              </a:rPr>
              <a:t>Contrast</a:t>
            </a:r>
          </a:p>
          <a:p>
            <a:pPr algn="l"/>
            <a:r>
              <a:rPr lang="en-US" sz="1300" b="false">
                <a:solidFill>
                  <a:srgbClr val="6D2E46"/>
                </a:solidFill>
              </a:rPr>
              <a:t>Dark / light sandwich structure.</a:t>
            </a:r>
          </a:p>
        </p:txBody>
      </p:sp>
      <p:sp>
        <p:nvSpPr>
          <p:cNvPr id="12" name="Shape 12"/>
          <p:cNvSpPr/>
          <p:nvPr/>
        </p:nvSpPr>
        <p:spPr>
          <a:xfrm>
            <a:off x="6400000" y="1500000"/>
            <a:ext cx="23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</p:txBody>
      </p:sp>
      <p:sp>
        <p:nvSpPr>
          <p:cNvPr id="22" name="Shape 22"/>
          <p:cNvSpPr/>
          <p:nvPr/>
        </p:nvSpPr>
        <p:spPr>
          <a:xfrm>
            <a:off x="6600000" y="1750000"/>
            <a:ext cx="550000" cy="550000"/>
          </a:xfrm>
          <a:prstGeom prst="roundRect">
            <a:avLst/>
          </a:prstGeom>
          <a:solidFill>
            <a:srgbClr val="B85042"/>
          </a:solidFill>
          <a:ln w="12700">
            <a:solidFill>
              <a:srgbClr val="B85042"/>
            </a:solidFill>
          </a:ln>
        </p:spPr>
        <p:txBody>
          <a:bodyPr/>
          <a:lstStyle/>
        </p:txBody>
      </p:sp>
      <p:sp>
        <p:nvSpPr>
          <p:cNvPr id="32" name="TextBox 32"/>
          <p:cNvSpPr txBox="1"/>
          <p:nvPr/>
        </p:nvSpPr>
        <p:spPr>
          <a:xfrm>
            <a:off x="7300000" y="1700000"/>
            <a:ext cx="1300000" cy="1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true">
                <a:solidFill>
                  <a:srgbClr val="6D2E46"/>
                </a:solidFill>
              </a:rPr>
              <a:t>Breathing room</a:t>
            </a:r>
          </a:p>
          <a:p>
            <a:pPr algn="l"/>
            <a:r>
              <a:rPr lang="en-US" sz="1300" b="false">
                <a:solidFill>
                  <a:srgbClr val="6D2E46"/>
                </a:solidFill>
              </a:rPr>
              <a:t>No text-only white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/>
          <a:lstStyle/>
        </p:txBody>
      </p:sp>
      <p:sp>
        <p:nvSpPr>
          <p:cNvPr id="3" name="TextBox 3"/>
          <p:cNvSpPr txBox="1"/>
          <p:nvPr/>
        </p:nvSpPr>
        <p:spPr>
          <a:xfrm>
            <a:off x="600000" y="35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400" b="true">
                <a:solidFill>
                  <a:srgbClr val="F2F2F2"/>
                </a:solidFill>
              </a:rPr>
              <a:t>Quick visual check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0000" y="1200000"/>
            <a:ext cx="1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00" b="true">
                <a:solidFill>
                  <a:srgbClr val="F2F2F2"/>
                </a:solidFill>
              </a:rPr>
              <a:t>Readable</a:t>
            </a:r>
          </a:p>
        </p:txBody>
      </p:sp>
      <p:sp>
        <p:nvSpPr>
          <p:cNvPr id="20" name="Shape 20"/>
          <p:cNvSpPr/>
          <p:nvPr/>
        </p:nvSpPr>
        <p:spPr>
          <a:xfrm>
            <a:off x="1400000" y="1884000"/>
            <a:ext cx="900000" cy="2016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</a:ln>
        </p:spPr>
        <p:txBody>
          <a:bodyPr/>
          <a:lstStyle/>
        </p:txBody>
      </p:sp>
      <p:sp>
        <p:nvSpPr>
          <p:cNvPr id="30" name="TextBox 30"/>
          <p:cNvSpPr txBox="1"/>
          <p:nvPr/>
        </p:nvSpPr>
        <p:spPr>
          <a:xfrm>
            <a:off x="1350000" y="4100000"/>
            <a:ext cx="1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true">
                <a:solidFill>
                  <a:srgbClr val="F2F2F2"/>
                </a:solidFill>
              </a:rPr>
              <a:t>72%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00000" y="1200000"/>
            <a:ext cx="1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00" b="true">
                <a:solidFill>
                  <a:srgbClr val="F2F2F2"/>
                </a:solidFill>
              </a:rPr>
              <a:t>Aligned</a:t>
            </a:r>
          </a:p>
        </p:txBody>
      </p:sp>
      <p:sp>
        <p:nvSpPr>
          <p:cNvPr id="21" name="Shape 21"/>
          <p:cNvSpPr/>
          <p:nvPr/>
        </p:nvSpPr>
        <p:spPr>
          <a:xfrm>
            <a:off x="3700000" y="2276000"/>
            <a:ext cx="900000" cy="1624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</a:ln>
        </p:spPr>
        <p:txBody>
          <a:bodyPr/>
          <a:lstStyle/>
        </p:txBody>
      </p:sp>
      <p:sp>
        <p:nvSpPr>
          <p:cNvPr id="31" name="TextBox 31"/>
          <p:cNvSpPr txBox="1"/>
          <p:nvPr/>
        </p:nvSpPr>
        <p:spPr>
          <a:xfrm>
            <a:off x="3650000" y="4100000"/>
            <a:ext cx="1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true">
                <a:solidFill>
                  <a:srgbClr val="F2F2F2"/>
                </a:solidFill>
              </a:rPr>
              <a:t>58%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0000" y="1200000"/>
            <a:ext cx="15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00" b="true">
                <a:solidFill>
                  <a:srgbClr val="F2F2F2"/>
                </a:solidFill>
              </a:rPr>
              <a:t>Distinct</a:t>
            </a:r>
          </a:p>
        </p:txBody>
      </p:sp>
      <p:sp>
        <p:nvSpPr>
          <p:cNvPr id="22" name="Shape 22"/>
          <p:cNvSpPr/>
          <p:nvPr/>
        </p:nvSpPr>
        <p:spPr>
          <a:xfrm>
            <a:off x="6000000" y="1548000"/>
            <a:ext cx="900000" cy="23520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</a:ln>
        </p:spPr>
        <p:txBody>
          <a:bodyPr/>
          <a:lstStyle/>
        </p:txBody>
      </p:sp>
      <p:sp>
        <p:nvSpPr>
          <p:cNvPr id="32" name="TextBox 32"/>
          <p:cNvSpPr txBox="1"/>
          <p:nvPr/>
        </p:nvSpPr>
        <p:spPr>
          <a:xfrm>
            <a:off x="5950000" y="4100000"/>
            <a:ext cx="1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true">
                <a:solidFill>
                  <a:srgbClr val="F2F2F2"/>
                </a:solidFill>
              </a:rPr>
              <a:t>84%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600000" y="900000"/>
            <a:ext cx="8000000" cy="3200000"/>
          </a:xfrm>
          <a:prstGeom prst="roundRect">
            <a:avLst/>
          </a:prstGeom>
          <a:solidFill>
            <a:srgbClr val="ECE2D0"/>
          </a:solidFill>
          <a:ln w="12700">
            <a:solidFill>
              <a:srgbClr val="ECE2D0"/>
            </a:solidFill>
          </a:ln>
        </p:spPr>
        <p:txBody>
          <a:bodyPr/>
          <a:lstStyle/>
        </p:txBody>
      </p:sp>
      <p:sp>
        <p:nvSpPr>
          <p:cNvPr id="4" name="TextBox 4"/>
          <p:cNvSpPr txBox="1"/>
          <p:nvPr/>
        </p:nvSpPr>
        <p:spPr>
          <a:xfrm>
            <a:off x="1100000" y="1400000"/>
            <a:ext cx="700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3400" b="true">
                <a:solidFill>
                  <a:srgbClr val="6D2E46"/>
                </a:solidFill>
              </a:rPr>
              <a:t>Done: random but not boring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00000" y="2600000"/>
            <a:ext cx="5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600" b="false">
                <a:solidFill>
                  <a:srgbClr val="6D2E46"/>
                </a:solidFill>
              </a:rPr>
              <a:t>Use this file to test extraction, rendering, and visual QA paths.</a:t>
            </a:r>
          </a:p>
        </p:txBody>
      </p:sp>
    </p:spTree>
  </p:cSld>
  <p:clrMapOvr>
    <a:masterClrMapping/>
  </p:clrMapOvr>
</p:sld>
</file>